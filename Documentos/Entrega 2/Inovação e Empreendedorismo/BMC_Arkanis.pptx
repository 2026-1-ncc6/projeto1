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7" r:id="rId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50" d="100"/>
          <a:sy n="150" d="100"/>
        </p:scale>
        <p:origin x="-14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1846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182880" y="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Canvas — Arkanis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" y="530352"/>
            <a:ext cx="1783080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36576" y="530352"/>
            <a:ext cx="54864" cy="1993392"/>
          </a:xfrm>
          <a:prstGeom prst="rect">
            <a:avLst/>
          </a:prstGeom>
          <a:solidFill>
            <a:srgbClr val="5B4E8C"/>
          </a:solidFill>
          <a:ln w="12700">
            <a:solidFill>
              <a:srgbClr val="5B4E8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28016" y="566928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kern="0" spc="100" dirty="0">
                <a:solidFill>
                  <a:srgbClr val="5B4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PARCERIAS-CHAVE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28016" y="702818"/>
            <a:ext cx="1600200" cy="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128016" y="822960"/>
            <a:ext cx="161848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Fornecedores de hardware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em volume de componentes ESP32 para garantir baixo custo unitário.</a:t>
            </a:r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b="1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Corretoras</a:t>
            </a:r>
            <a:r>
              <a:rPr lang="en-US" sz="7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750" b="1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</a:t>
            </a:r>
            <a:r>
              <a:rPr lang="en-US" sz="7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Atuam como prescritores técnicos que validam a redução de risco para as apólices.</a:t>
            </a:r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b="1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Universidades</a:t>
            </a:r>
            <a:r>
              <a:rPr lang="en-US" sz="7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FECAP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 para validação técnica e rodagem de projetos piloto (B2B/B2G).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874520" y="530352"/>
            <a:ext cx="17830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1874520" y="530352"/>
            <a:ext cx="54864" cy="969264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965960" y="566928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kern="0" spc="100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ATIVIDADES-CHAVE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965960" y="703834"/>
            <a:ext cx="1600200" cy="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965960" y="822960"/>
            <a:ext cx="1618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de uptime cloud / broker MQTT (24/7)</a:t>
            </a:r>
            <a:endParaRPr lang="en-US" sz="750" dirty="0"/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Calibração contínua dos sensores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874520" y="1554480"/>
            <a:ext cx="17830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1874520" y="1554480"/>
            <a:ext cx="54864" cy="969264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1965960" y="1591056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kern="0" spc="100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RECURSOS-CHAVE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965960" y="1727962"/>
            <a:ext cx="1600200" cy="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1965960" y="1847088"/>
            <a:ext cx="1618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b="1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</a:t>
            </a:r>
            <a:r>
              <a:rPr lang="en-US" sz="7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b="1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proprietário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endParaRPr lang="en-US" sz="750" dirty="0"/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Infraestrutura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nuvem</a:t>
            </a:r>
            <a:endParaRPr lang="en-US" sz="750" dirty="0"/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</a:t>
            </a:r>
            <a:r>
              <a:rPr lang="en-US" sz="750" b="1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intelectual</a:t>
            </a:r>
            <a:r>
              <a:rPr lang="en-US" sz="7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de Ciência da Computação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12464" y="530352"/>
            <a:ext cx="1874520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3712464" y="530352"/>
            <a:ext cx="54864" cy="1993392"/>
          </a:xfrm>
          <a:prstGeom prst="rect">
            <a:avLst/>
          </a:prstGeom>
          <a:solidFill>
            <a:srgbClr val="C0503A"/>
          </a:solidFill>
          <a:ln w="12700">
            <a:solidFill>
              <a:srgbClr val="C050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3803904" y="566928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kern="0" spc="100" dirty="0">
                <a:solidFill>
                  <a:srgbClr val="C05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VALOR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3803904" y="703834"/>
            <a:ext cx="1691640" cy="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3803904" y="822960"/>
            <a:ext cx="170992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100% Wi-Fi, não-invasivo, com alertas preditivos</a:t>
            </a:r>
            <a:endParaRPr lang="en-US" sz="750" dirty="0"/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Laudos invioláveis para compliance jurídico</a:t>
            </a:r>
            <a:endParaRPr lang="en-US" sz="750" dirty="0"/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Substituição de alto CAPEX por OPEX acessível</a:t>
            </a:r>
            <a:endParaRPr lang="en-US" sz="750" dirty="0"/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pt-BR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r>
              <a:rPr lang="pt-BR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Jurídico Geração de laudos técnicos automatizados baseados na norma EN 15757.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641848" y="530352"/>
            <a:ext cx="141732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5641848" y="530352"/>
            <a:ext cx="54864" cy="969264"/>
          </a:xfrm>
          <a:prstGeom prst="rect">
            <a:avLst/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5733288" y="566928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kern="0" spc="10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RELACIONAMENTO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733288" y="728218"/>
            <a:ext cx="1234440" cy="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5733288" y="765556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Lock-in </a:t>
            </a:r>
            <a:r>
              <a:rPr lang="en-US" sz="750" b="1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tecnológico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Retenção do histórico exigido por seguradoras e órgãos fiscais.</a:t>
            </a:r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Vínculo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consultivo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B2B de </a:t>
            </a: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longo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641848" y="1554480"/>
            <a:ext cx="141732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5641848" y="1554480"/>
            <a:ext cx="54864" cy="969264"/>
          </a:xfrm>
          <a:prstGeom prst="rect">
            <a:avLst/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5733288" y="1591056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kern="0" spc="10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CANAIS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733288" y="1810512"/>
            <a:ext cx="1234440" cy="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5733288" y="1847088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 consultiva direta (B2B)</a:t>
            </a:r>
            <a:endParaRPr lang="en-US" sz="750" dirty="0"/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Licitações públicas (B2G)</a:t>
            </a:r>
            <a:endParaRPr lang="en-US" sz="750" dirty="0"/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Feiras especializadas em museologia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114032" y="530352"/>
            <a:ext cx="1426464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3"/>
          <p:cNvSpPr/>
          <p:nvPr/>
        </p:nvSpPr>
        <p:spPr>
          <a:xfrm>
            <a:off x="7114032" y="530352"/>
            <a:ext cx="54864" cy="1993392"/>
          </a:xfrm>
          <a:prstGeom prst="rect">
            <a:avLst/>
          </a:prstGeom>
          <a:solidFill>
            <a:srgbClr val="2A3F6B"/>
          </a:solidFill>
          <a:ln w="12700">
            <a:solidFill>
              <a:srgbClr val="2A3F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7205472" y="566928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kern="0" spc="100" dirty="0">
                <a:solidFill>
                  <a:srgbClr val="2A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SEGMENTOS DE CLIENTES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7205472" y="786384"/>
            <a:ext cx="1243584" cy="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7205472" y="822960"/>
            <a:ext cx="1261872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Museus</a:t>
            </a:r>
            <a:endParaRPr lang="en-US" sz="750" dirty="0"/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Galerias de Arte</a:t>
            </a:r>
            <a:endParaRPr lang="en-US" sz="750" dirty="0"/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Bibliotecas de Obras Raras</a:t>
            </a:r>
            <a:endParaRPr lang="en-US" sz="750" dirty="0"/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 Históricos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6576" y="2578608"/>
            <a:ext cx="4507992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Shape 38"/>
          <p:cNvSpPr/>
          <p:nvPr/>
        </p:nvSpPr>
        <p:spPr>
          <a:xfrm>
            <a:off x="36576" y="2578608"/>
            <a:ext cx="54864" cy="2029968"/>
          </a:xfrm>
          <a:prstGeom prst="rect">
            <a:avLst/>
          </a:prstGeom>
          <a:solidFill>
            <a:srgbClr val="718096"/>
          </a:solidFill>
          <a:ln w="12700">
            <a:solidFill>
              <a:srgbClr val="7180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128016" y="2615184"/>
            <a:ext cx="4379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kern="0" spc="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DE CUSTOS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28016" y="2771140"/>
            <a:ext cx="4325112" cy="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128016" y="2871216"/>
            <a:ext cx="434340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Fixo: </a:t>
            </a: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Servidores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 Cloud, Broker MQTT, </a:t>
            </a: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suporte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 B2B e </a:t>
            </a: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folha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pagamento da equipe</a:t>
            </a:r>
            <a:endParaRPr lang="en-US" sz="750" dirty="0"/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Variável: 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física dos </a:t>
            </a: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nós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sensors, </a:t>
            </a: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fabricação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 hardware ~R$ 150,00</a:t>
            </a:r>
            <a:endParaRPr lang="en-US" sz="750" dirty="0">
              <a:solidFill>
                <a:srgbClr val="4A55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en-US" sz="750" b="1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</a:t>
            </a:r>
            <a:r>
              <a:rPr lang="en-US" sz="7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750" b="1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</a:t>
            </a:r>
            <a:r>
              <a:rPr lang="en-US" sz="7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(CAC)</a:t>
            </a:r>
            <a:r>
              <a:rPr lang="en-US" sz="7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: </a:t>
            </a: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Implantação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 do setup </a:t>
            </a: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inicial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 marketing, </a:t>
            </a: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licitações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, </a:t>
            </a: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implantação</a:t>
            </a:r>
            <a:endParaRPr lang="en-US" sz="750" dirty="0">
              <a:solidFill>
                <a:srgbClr val="4A5568"/>
              </a:solidFill>
              <a:latin typeface="Calibri" pitchFamily="34" charset="0"/>
              <a:ea typeface="Calibri" pitchFamily="34" charset="-122"/>
              <a:cs typeface="Calibri" pitchFamily="34" charset="-120"/>
              <a:sym typeface="Wingdings" panose="05000000000000000000" pitchFamily="2" charset="2"/>
            </a:endParaRPr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endParaRPr lang="en-US" sz="750" dirty="0">
              <a:solidFill>
                <a:srgbClr val="4A5568"/>
              </a:solidFill>
              <a:latin typeface="Calibri" pitchFamily="34" charset="0"/>
              <a:ea typeface="Calibri" pitchFamily="34" charset="-122"/>
              <a:cs typeface="Calibri" pitchFamily="34" charset="-120"/>
              <a:sym typeface="Wingdings" panose="05000000000000000000" pitchFamily="2" charset="2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4599432" y="2578608"/>
            <a:ext cx="4507992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4599432" y="2578608"/>
            <a:ext cx="54864" cy="2029968"/>
          </a:xfrm>
          <a:prstGeom prst="rect">
            <a:avLst/>
          </a:prstGeom>
          <a:solidFill>
            <a:srgbClr val="2A3F6B"/>
          </a:solidFill>
          <a:ln w="12700">
            <a:solidFill>
              <a:srgbClr val="2A3F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4690872" y="2615184"/>
            <a:ext cx="4379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kern="0" spc="100" dirty="0">
                <a:solidFill>
                  <a:srgbClr val="2A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DE RECEITA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4690872" y="2834640"/>
            <a:ext cx="4325112" cy="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4690872" y="2871216"/>
            <a:ext cx="434340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pt-BR" sz="7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Setup Inicial: </a:t>
            </a:r>
            <a:r>
              <a:rPr lang="pt-BR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R$ 550 a R$ 900, protege caixa</a:t>
            </a:r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pt-BR" sz="7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Mensalidade (SaaS): </a:t>
            </a:r>
            <a:r>
              <a:rPr lang="pt-BR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planos escalonados, Básico R$599, Profissional R$1.499, Institucional R$3.499</a:t>
            </a:r>
          </a:p>
          <a:p>
            <a:pPr marL="342900" indent="-342900">
              <a:spcAft>
                <a:spcPts val="150"/>
              </a:spcAft>
              <a:buSzPct val="100000"/>
              <a:buChar char="•"/>
            </a:pPr>
            <a:r>
              <a:rPr lang="pt-BR" sz="7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Natureza da Receita: </a:t>
            </a:r>
            <a:r>
              <a:rPr lang="pt-BR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previsível, recorrente, margem crescente</a:t>
            </a:r>
            <a:endParaRPr lang="en-US" sz="750" dirty="0">
              <a:solidFill>
                <a:srgbClr val="4A55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272</Words>
  <Application>Microsoft Office PowerPoint</Application>
  <PresentationFormat>Apresentação na tela (16:9)</PresentationFormat>
  <Paragraphs>38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Wingdings</vt:lpstr>
      <vt:lpstr>Office Theme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Model Canvas — Arkanis</dc:title>
  <dc:subject>PptxGenJS Presentation</dc:subject>
  <dc:creator>PptxGenJS</dc:creator>
  <cp:lastModifiedBy>Aleff Silva Souza</cp:lastModifiedBy>
  <cp:revision>10</cp:revision>
  <dcterms:created xsi:type="dcterms:W3CDTF">2026-05-11T00:03:34Z</dcterms:created>
  <dcterms:modified xsi:type="dcterms:W3CDTF">2026-05-12T00:32:47Z</dcterms:modified>
</cp:coreProperties>
</file>