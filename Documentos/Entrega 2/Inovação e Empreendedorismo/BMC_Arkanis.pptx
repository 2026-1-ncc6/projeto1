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7" r:id="rId2"/>
    <p:sldId id="259" r:id="rId3"/>
    <p:sldId id="260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1846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82880" y="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Canvas — Arkanis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" y="530352"/>
            <a:ext cx="178308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6576" y="530352"/>
            <a:ext cx="54864" cy="1993392"/>
          </a:xfrm>
          <a:prstGeom prst="rect">
            <a:avLst/>
          </a:prstGeom>
          <a:solidFill>
            <a:srgbClr val="5B4E8C"/>
          </a:solidFill>
          <a:ln w="12700">
            <a:solidFill>
              <a:srgbClr val="5B4E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28016" y="566928"/>
            <a:ext cx="1655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5B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PARCERIAS-CHAVE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28016" y="786384"/>
            <a:ext cx="160020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28016" y="822960"/>
            <a:ext cx="161848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7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Fornecedores de hardware</a:t>
            </a: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arbitragem de custo</a:t>
            </a:r>
            <a:endParaRPr lang="en-US" sz="750" dirty="0"/>
          </a:p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7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Corretoras de </a:t>
            </a:r>
            <a:r>
              <a:rPr lang="en-US" sz="750" b="1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</a:t>
            </a:r>
            <a:r>
              <a:rPr lang="en-US" sz="7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exigem ou concedem descontos pela instalação da Arkanis</a:t>
            </a:r>
            <a:endParaRPr lang="en-US" sz="750" dirty="0"/>
          </a:p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7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Universidades / FECAP</a:t>
            </a: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pilotos</a:t>
            </a: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gratuitos para prova social e credibilidade governamental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874520" y="530352"/>
            <a:ext cx="178308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874520" y="530352"/>
            <a:ext cx="54864" cy="969264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965960" y="566928"/>
            <a:ext cx="1655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ATIVIDADES-CHAVE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965960" y="786384"/>
            <a:ext cx="160020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965960" y="822960"/>
            <a:ext cx="1618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 de uptime cloud / broker MQTT (24/7)</a:t>
            </a:r>
            <a:endParaRPr lang="en-US" sz="750" dirty="0"/>
          </a:p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Calibração contínua dos sensores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874520" y="1554480"/>
            <a:ext cx="178308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1874520" y="1554480"/>
            <a:ext cx="54864" cy="969264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965960" y="1591056"/>
            <a:ext cx="1655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RECURSOS-CHAVE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965960" y="1810512"/>
            <a:ext cx="160020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1965960" y="1847088"/>
            <a:ext cx="1618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750" b="1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</a:t>
            </a:r>
            <a:r>
              <a:rPr lang="en-US" sz="7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50" b="1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proprietário</a:t>
            </a: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</a:t>
            </a: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7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</a:t>
            </a:r>
            <a:endParaRPr lang="en-US" sz="750" dirty="0"/>
          </a:p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7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</a:t>
            </a: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nuvem</a:t>
            </a:r>
            <a:endParaRPr lang="en-US" sz="750" dirty="0"/>
          </a:p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7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</a:t>
            </a:r>
            <a:r>
              <a:rPr lang="en-US" sz="750" b="1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intelectual</a:t>
            </a:r>
            <a:r>
              <a:rPr lang="en-US" sz="7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de Ciência da Computação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712464" y="530352"/>
            <a:ext cx="187452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3712464" y="530352"/>
            <a:ext cx="54864" cy="1993392"/>
          </a:xfrm>
          <a:prstGeom prst="rect">
            <a:avLst/>
          </a:prstGeom>
          <a:solidFill>
            <a:srgbClr val="C0503A"/>
          </a:solidFill>
          <a:ln w="12700">
            <a:solidFill>
              <a:srgbClr val="C050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3803904" y="566928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C0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DE VALOR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803904" y="786384"/>
            <a:ext cx="169164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3803904" y="822960"/>
            <a:ext cx="170992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100% Wi-Fi, não-invasivo, com alertas preditivos</a:t>
            </a:r>
            <a:endParaRPr lang="en-US" sz="750" dirty="0"/>
          </a:p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Laudos invioláveis para compliance jurídico</a:t>
            </a:r>
            <a:endParaRPr lang="en-US" sz="750" dirty="0"/>
          </a:p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Substituição de alto CAPEX por OPEX acessível</a:t>
            </a:r>
            <a:endParaRPr lang="en-US" sz="750" dirty="0"/>
          </a:p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Lock-in pelo histórico de dados exigido pelo seguro patrimonial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641848" y="530352"/>
            <a:ext cx="141732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5641848" y="530352"/>
            <a:ext cx="54864" cy="969264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5733288" y="566928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5733288" y="786384"/>
            <a:ext cx="123444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5733288" y="822960"/>
            <a:ext cx="125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Lock-in tecnológico — histórico vinculado ao seguro</a:t>
            </a:r>
            <a:endParaRPr lang="en-US" sz="750" dirty="0"/>
          </a:p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Vínculo consultivo B2B de longo prazo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641848" y="1554480"/>
            <a:ext cx="141732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5641848" y="1554480"/>
            <a:ext cx="54864" cy="969264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5733288" y="1591056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CANAIS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5733288" y="1810512"/>
            <a:ext cx="123444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5733288" y="1847088"/>
            <a:ext cx="1307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 consultiva direta (B2B)</a:t>
            </a:r>
            <a:endParaRPr lang="en-US" sz="750" dirty="0"/>
          </a:p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Licitações públicas (B2G)</a:t>
            </a:r>
            <a:endParaRPr lang="en-US" sz="750" dirty="0"/>
          </a:p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Feiras especializadas em museologia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7114032" y="530352"/>
            <a:ext cx="1426464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7114032" y="530352"/>
            <a:ext cx="54864" cy="1993392"/>
          </a:xfrm>
          <a:prstGeom prst="rect">
            <a:avLst/>
          </a:prstGeom>
          <a:solidFill>
            <a:srgbClr val="2A3F6B"/>
          </a:solidFill>
          <a:ln w="12700">
            <a:solidFill>
              <a:srgbClr val="2A3F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7205472" y="56692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2A3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SEGMENTOS DE CLIENTES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7205472" y="786384"/>
            <a:ext cx="1243584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7205472" y="822960"/>
            <a:ext cx="126187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Museus</a:t>
            </a:r>
            <a:endParaRPr lang="en-US" sz="750" dirty="0"/>
          </a:p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Galerias de Arte</a:t>
            </a:r>
            <a:endParaRPr lang="en-US" sz="750" dirty="0"/>
          </a:p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Bibliotecas de Obras Raras</a:t>
            </a:r>
            <a:endParaRPr lang="en-US" sz="750" dirty="0"/>
          </a:p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 Históricos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6576" y="2578608"/>
            <a:ext cx="4507992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Shape 38"/>
          <p:cNvSpPr/>
          <p:nvPr/>
        </p:nvSpPr>
        <p:spPr>
          <a:xfrm>
            <a:off x="36576" y="2578608"/>
            <a:ext cx="54864" cy="2029968"/>
          </a:xfrm>
          <a:prstGeom prst="rect">
            <a:avLst/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128016" y="2615184"/>
            <a:ext cx="4379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CUSTOS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28016" y="2834640"/>
            <a:ext cx="4325112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128016" y="2871216"/>
            <a:ext cx="434340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7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Fixo: </a:t>
            </a: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servidores em nuvem e folha de pagamento da equipe</a:t>
            </a:r>
            <a:endParaRPr lang="en-US" sz="750" dirty="0"/>
          </a:p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7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Variável: </a:t>
            </a: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montagem física dos </a:t>
            </a:r>
            <a:r>
              <a:rPr lang="en-US" sz="7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nós</a:t>
            </a: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sensors</a:t>
            </a:r>
          </a:p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750" b="1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</a:t>
            </a:r>
            <a:r>
              <a:rPr lang="en-US" sz="7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750" b="1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aquisição</a:t>
            </a:r>
            <a:r>
              <a:rPr lang="en-US" sz="7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(CAC)</a:t>
            </a:r>
            <a:r>
              <a:rPr lang="en-US" sz="7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: </a:t>
            </a:r>
            <a:r>
              <a:rPr lang="en-US" sz="7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Implantação</a:t>
            </a: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do setup </a:t>
            </a:r>
            <a:r>
              <a:rPr lang="en-US" sz="7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inicial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599432" y="2578608"/>
            <a:ext cx="4507992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Shape 43"/>
          <p:cNvSpPr/>
          <p:nvPr/>
        </p:nvSpPr>
        <p:spPr>
          <a:xfrm>
            <a:off x="4599432" y="2578608"/>
            <a:ext cx="54864" cy="2029968"/>
          </a:xfrm>
          <a:prstGeom prst="rect">
            <a:avLst/>
          </a:prstGeom>
          <a:solidFill>
            <a:srgbClr val="2A3F6B"/>
          </a:solidFill>
          <a:ln w="12700">
            <a:solidFill>
              <a:srgbClr val="2A3F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4690872" y="2615184"/>
            <a:ext cx="4379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2A3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DE RECEITA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690872" y="2834640"/>
            <a:ext cx="4325112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4690872" y="2871216"/>
            <a:ext cx="434340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7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Setup de Hardware (Dia 0): </a:t>
            </a: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repasse do custo de fabricação e CAC</a:t>
            </a:r>
            <a:endParaRPr lang="en-US" sz="750" dirty="0"/>
          </a:p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750" b="1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</a:t>
            </a:r>
            <a:r>
              <a:rPr lang="en-US" sz="7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50" b="1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Recorrente</a:t>
            </a:r>
            <a:r>
              <a:rPr lang="en-US" sz="7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mensalidade SaaS escalável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82880" y="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Receita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3931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3931920" cy="73152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11480" y="868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Setup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Repasse direto do custo de fabricação do hardware e do CAC (Custo de Aquisição de Cliente) já no momento da instalação.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Benefício: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caixa positivo desde o primeiro dia.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937760" y="731520"/>
            <a:ext cx="3931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937760" y="731520"/>
            <a:ext cx="3931920" cy="73152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074920" y="868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Recorrente SaaS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7492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 · Escalável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4920" y="173736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Mensalidade SaaS proporcional ao número de pontos de monitoramento e volume de dados armazenados.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Lock-in estratégico: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não cancela para preservar o histórico exigido pelo seguro patrimonial.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24528" y="2331720"/>
            <a:ext cx="704088" cy="0"/>
          </a:xfrm>
          <a:prstGeom prst="line">
            <a:avLst/>
          </a:prstGeom>
          <a:noFill/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206240" y="21031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74320" y="4160520"/>
            <a:ext cx="8595360" cy="640080"/>
          </a:xfrm>
          <a:prstGeom prst="rect">
            <a:avLst/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57200" y="422452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custos: servidores em nuvem e folha de pagamento (fixos) + montagem física dos nós sensores (variável por contrato).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82880" y="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Parcerias-Chave &amp; Go-to-Market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39319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64008" cy="1078992"/>
          </a:xfrm>
          <a:prstGeom prst="rect">
            <a:avLst/>
          </a:prstGeom>
          <a:solidFill>
            <a:srgbClr val="5B4E8C"/>
          </a:solidFill>
          <a:ln w="12700">
            <a:solidFill>
              <a:srgbClr val="5B4E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11480" y="7315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Fornecedores de Hardware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Arbitragem de custo na aquisição de componentes. Reduz o custo variável por contrato e amplia a margem de setup.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39319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274320" y="1920240"/>
            <a:ext cx="64008" cy="1078992"/>
          </a:xfrm>
          <a:prstGeom prst="rect">
            <a:avLst/>
          </a:prstGeom>
          <a:solidFill>
            <a:srgbClr val="C0503A"/>
          </a:solidFill>
          <a:ln w="12700">
            <a:solidFill>
              <a:srgbClr val="C050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11480" y="1993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Corretoras de Seguro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304288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Exigem a instalação da Arkanis ou concedem descontos nas apólices. Criam demanda orgânica sem esforço de venda.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3182112"/>
            <a:ext cx="39319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274320" y="3182112"/>
            <a:ext cx="64008" cy="1078992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11480" y="32552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Universidades / FECAP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356616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Pilotos gratuitos geram prova social, validação acadêmica e confiança junto a órgãos governamentais e licitações.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54880" y="594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Canais de Distribuição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987552"/>
            <a:ext cx="4114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800600" y="1060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38928" y="10607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 Consultiva B2B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38928" y="137160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 direto com diretores de museus e galerias. Ciclo longo, ticket alto.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157984"/>
            <a:ext cx="4114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800600" y="2231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38928" y="22311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Licitações Públicas (B2G)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38928" y="2542032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em arquivos históricos e museus estatais. Exige certificação e laudos auditáveis.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328416"/>
            <a:ext cx="4114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800600" y="3401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38928" y="34015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Feiras de Museologia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38928" y="3712464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Exposição qualificada via parcerias. Reduz CAC e constrói autoridade de marca.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437</Words>
  <Application>Microsoft Office PowerPoint</Application>
  <PresentationFormat>Apresentação na tela (16:9)</PresentationFormat>
  <Paragraphs>71</Paragraphs>
  <Slides>3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Model Canvas — Arkanis</dc:title>
  <dc:subject>PptxGenJS Presentation</dc:subject>
  <dc:creator>PptxGenJS</dc:creator>
  <cp:lastModifiedBy>Aleff Souza 23025514</cp:lastModifiedBy>
  <cp:revision>5</cp:revision>
  <dcterms:created xsi:type="dcterms:W3CDTF">2026-05-11T00:03:34Z</dcterms:created>
  <dcterms:modified xsi:type="dcterms:W3CDTF">2026-05-11T00:09:18Z</dcterms:modified>
</cp:coreProperties>
</file>