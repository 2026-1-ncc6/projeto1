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8800425" cy="43200638"/>
  <p:notesSz cx="6858000" cy="9144000"/>
  <p:embeddedFontLst>
    <p:embeddedFont>
      <p:font typeface="Open Sans" panose="020B0606030504020204" pitchFamily="34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66">
          <p15:clr>
            <a:srgbClr val="A4A3A4"/>
          </p15:clr>
        </p15:guide>
        <p15:guide id="2" pos="5488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1" roundtripDataSignature="AMtx7mhZd7mQSxpDiSW/xakS/zmC5oJU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878" y="-1402"/>
      </p:cViewPr>
      <p:guideLst>
        <p:guide orient="horz" pos="4366"/>
        <p:guide pos="54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customschemas.google.com/relationships/presentationmetadata" Target="metadata"/><Relationship Id="rId5" Type="http://schemas.openxmlformats.org/officeDocument/2006/relationships/font" Target="fonts/font2.fntdata"/><Relationship Id="rId15" Type="http://schemas.openxmlformats.org/officeDocument/2006/relationships/tableStyles" Target="tableStyles.xml"/><Relationship Id="rId4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iano Massaro 23025304" userId="fde12354-1d2e-4839-aad9-0ba14edd3215" providerId="ADAL" clId="{44148CF8-8859-488F-AFF6-45DF634DA2E0}"/>
    <pc:docChg chg="modSld">
      <pc:chgData name="Luciano Massaro 23025304" userId="fde12354-1d2e-4839-aad9-0ba14edd3215" providerId="ADAL" clId="{44148CF8-8859-488F-AFF6-45DF634DA2E0}" dt="2026-05-10T22:56:20.759" v="0" actId="20577"/>
      <pc:docMkLst>
        <pc:docMk/>
      </pc:docMkLst>
      <pc:sldChg chg="modSp mod">
        <pc:chgData name="Luciano Massaro 23025304" userId="fde12354-1d2e-4839-aad9-0ba14edd3215" providerId="ADAL" clId="{44148CF8-8859-488F-AFF6-45DF634DA2E0}" dt="2026-05-10T22:56:20.759" v="0" actId="20577"/>
        <pc:sldMkLst>
          <pc:docMk/>
          <pc:sldMk cId="0" sldId="256"/>
        </pc:sldMkLst>
        <pc:spChg chg="mod">
          <ac:chgData name="Luciano Massaro 23025304" userId="fde12354-1d2e-4839-aad9-0ba14edd3215" providerId="ADAL" clId="{44148CF8-8859-488F-AFF6-45DF634DA2E0}" dt="2026-05-10T22:56:20.759" v="0" actId="20577"/>
          <ac:spMkLst>
            <pc:docMk/>
            <pc:sldMk cId="0" sldId="256"/>
            <ac:spMk id="12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685800"/>
            <a:ext cx="228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1306910" y="4305947"/>
            <a:ext cx="14811647" cy="2971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2613820" y="7854662"/>
            <a:ext cx="12197827" cy="3542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rgbClr val="888888"/>
              </a:buClr>
              <a:buSzPts val="6098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5336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rgbClr val="888888"/>
              </a:buClr>
              <a:buSzPts val="4574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1376492" y="8907084"/>
            <a:ext cx="14811647" cy="275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23"/>
              <a:buFont typeface="Calibri"/>
              <a:buNone/>
              <a:defRPr sz="7623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1376492" y="5874955"/>
            <a:ext cx="14811647" cy="3032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 sz="3811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rgbClr val="888888"/>
              </a:buClr>
              <a:buSzPts val="3430"/>
              <a:buNone/>
              <a:defRPr sz="343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rgbClr val="888888"/>
              </a:buClr>
              <a:buSzPts val="3049"/>
              <a:buNone/>
              <a:defRPr sz="3049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8857946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871273" y="3102721"/>
            <a:ext cx="7699274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871273" y="4395787"/>
            <a:ext cx="7699274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8851896" y="3102721"/>
            <a:ext cx="7702299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8851896" y="4395787"/>
            <a:ext cx="7702299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lnSpc>
                <a:spcPct val="100000"/>
              </a:lnSpc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71274" y="551880"/>
            <a:ext cx="5732859" cy="234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6812874" y="551881"/>
            <a:ext cx="9741320" cy="11830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615823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Char char="•"/>
              <a:defRPr sz="6098"/>
            </a:lvl1pPr>
            <a:lvl2pPr marL="914400" lvl="1" indent="-567436" algn="l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–"/>
              <a:defRPr sz="5336"/>
            </a:lvl2pPr>
            <a:lvl3pPr marL="1371600" lvl="2" indent="-519049" algn="l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3pPr>
            <a:lvl4pPr marL="1828800" lvl="3" indent="-470599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4pPr>
            <a:lvl5pPr marL="2286000" lvl="4" indent="-470598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»"/>
              <a:defRPr sz="3811"/>
            </a:lvl5pPr>
            <a:lvl6pPr marL="2743200" lvl="5" indent="-470598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6pPr>
            <a:lvl7pPr marL="3200400" lvl="6" indent="-470598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7pPr>
            <a:lvl8pPr marL="3657600" lvl="7" indent="-470598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8pPr>
            <a:lvl9pPr marL="4114800" lvl="8" indent="-470598" algn="l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71274" y="2900579"/>
            <a:ext cx="5732859" cy="9481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lnSpc>
                <a:spcPct val="100000"/>
              </a:lnSpc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lnSpc>
                <a:spcPct val="100000"/>
              </a:lnSpc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3415514" y="9702817"/>
            <a:ext cx="10455280" cy="1145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3415514" y="1238521"/>
            <a:ext cx="10455280" cy="83167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3415514" y="10848290"/>
            <a:ext cx="10455280" cy="1626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lnSpc>
                <a:spcPct val="100000"/>
              </a:lnSpc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lnSpc>
                <a:spcPct val="100000"/>
              </a:lnSpc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lnSpc>
                <a:spcPct val="100000"/>
              </a:lnSpc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4138869" y="-33322"/>
            <a:ext cx="9147730" cy="1568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8680373" y="4508182"/>
            <a:ext cx="11826913" cy="3920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693699" y="732664"/>
            <a:ext cx="11826913" cy="1147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 sz="838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615823" algn="l" rtl="0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Font typeface="Arial"/>
              <a:buChar char="•"/>
              <a:defRPr sz="60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67436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Font typeface="Arial"/>
              <a:buChar char="–"/>
              <a:defRPr sz="53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519049" algn="l" rtl="0">
              <a:lnSpc>
                <a:spcPct val="100000"/>
              </a:lnSpc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Font typeface="Arial"/>
              <a:buChar char="•"/>
              <a:defRPr sz="45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70599" algn="l" rtl="0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–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70598" algn="l" rtl="0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»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70598" algn="l" rtl="0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70598" algn="l" rtl="0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70598" algn="l" rtl="0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70598" algn="l" rtl="0">
              <a:lnSpc>
                <a:spcPct val="100000"/>
              </a:lnSpc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87"/>
              <a:buFont typeface="Arial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4F3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234721" y="36273035"/>
            <a:ext cx="29324843" cy="6968084"/>
            <a:chOff x="0" y="-47625"/>
            <a:chExt cx="3032124" cy="65520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3032124" cy="607578"/>
            </a:xfrm>
            <a:custGeom>
              <a:avLst/>
              <a:gdLst/>
              <a:ahLst/>
              <a:cxnLst/>
              <a:rect l="l" t="t" r="r" b="b"/>
              <a:pathLst>
                <a:path w="3032124" h="607578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3163237" y="34829695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endParaRPr sz="676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-234720" y="28800364"/>
            <a:ext cx="29304069" cy="9759747"/>
            <a:chOff x="0" y="-47625"/>
            <a:chExt cx="3163653" cy="917701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3163653" cy="870076"/>
            </a:xfrm>
            <a:custGeom>
              <a:avLst/>
              <a:gdLst/>
              <a:ahLst/>
              <a:cxnLst/>
              <a:rect l="l" t="t" r="r" b="b"/>
              <a:pathLst>
                <a:path w="3163653" h="870076" extrusionOk="0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l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-234719" y="21010291"/>
            <a:ext cx="29324842" cy="9460531"/>
            <a:chOff x="0" y="-47625"/>
            <a:chExt cx="3225442" cy="889566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3225442" cy="841941"/>
            </a:xfrm>
            <a:custGeom>
              <a:avLst/>
              <a:gdLst/>
              <a:ahLst/>
              <a:cxnLst/>
              <a:rect l="l" t="t" r="r" b="b"/>
              <a:pathLst>
                <a:path w="3225442" h="841941" extrusionOk="0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"/>
          <p:cNvGrpSpPr/>
          <p:nvPr/>
        </p:nvGrpSpPr>
        <p:grpSpPr>
          <a:xfrm>
            <a:off x="-234720" y="15561373"/>
            <a:ext cx="29304069" cy="8372962"/>
            <a:chOff x="0" y="-47625"/>
            <a:chExt cx="3032124" cy="787302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3032124" cy="739677"/>
            </a:xfrm>
            <a:custGeom>
              <a:avLst/>
              <a:gdLst/>
              <a:ahLst/>
              <a:cxnLst/>
              <a:rect l="l" t="t" r="r" b="b"/>
              <a:pathLst>
                <a:path w="3032124" h="739677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-234719" y="6854247"/>
            <a:ext cx="29303943" cy="9226118"/>
            <a:chOff x="0" y="-47625"/>
            <a:chExt cx="3218728" cy="867524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3218728" cy="819899"/>
            </a:xfrm>
            <a:custGeom>
              <a:avLst/>
              <a:gdLst/>
              <a:ahLst/>
              <a:cxnLst/>
              <a:rect l="l" t="t" r="r" b="b"/>
              <a:pathLst>
                <a:path w="3218728" h="819899" extrusionOk="0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01" name="Google Shape;101;p1"/>
            <p:cNvSpPr/>
            <p:nvPr/>
          </p:nvSpPr>
          <p:spPr>
            <a:xfrm>
              <a:off x="0" y="0"/>
              <a:ext cx="2755436" cy="803341"/>
            </a:xfrm>
            <a:custGeom>
              <a:avLst/>
              <a:gdLst/>
              <a:ahLst/>
              <a:cxnLst/>
              <a:rect l="l" t="t" r="r" b="b"/>
              <a:pathLst>
                <a:path w="2755436" h="803341" extrusionOk="0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"/>
          <p:cNvGrpSpPr/>
          <p:nvPr/>
        </p:nvGrpSpPr>
        <p:grpSpPr>
          <a:xfrm rot="-5400000">
            <a:off x="10939017" y="13420436"/>
            <a:ext cx="20731171" cy="13057756"/>
            <a:chOff x="0" y="-47625"/>
            <a:chExt cx="1922704" cy="1224620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1922704" cy="1176995"/>
            </a:xfrm>
            <a:custGeom>
              <a:avLst/>
              <a:gdLst/>
              <a:ahLst/>
              <a:cxnLst/>
              <a:rect l="l" t="t" r="r" b="b"/>
              <a:pathLst>
                <a:path w="1922704" h="1176995" extrusionOk="0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927175" y="30011224"/>
            <a:ext cx="13848535" cy="8372959"/>
            <a:chOff x="0" y="-47625"/>
            <a:chExt cx="1302166" cy="868357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1302166" cy="820732"/>
            </a:xfrm>
            <a:custGeom>
              <a:avLst/>
              <a:gdLst/>
              <a:ahLst/>
              <a:cxnLst/>
              <a:rect l="l" t="t" r="r" b="b"/>
              <a:pathLst>
                <a:path w="1302166" h="820732" extrusionOk="0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15289000" y="30011233"/>
            <a:ext cx="12527629" cy="8372803"/>
            <a:chOff x="0" y="-314078"/>
            <a:chExt cx="8764870" cy="5685342"/>
          </a:xfrm>
        </p:grpSpPr>
        <p:grpSp>
          <p:nvGrpSpPr>
            <p:cNvPr id="110" name="Google Shape;110;p1"/>
            <p:cNvGrpSpPr/>
            <p:nvPr/>
          </p:nvGrpSpPr>
          <p:grpSpPr>
            <a:xfrm>
              <a:off x="0" y="-314078"/>
              <a:ext cx="8764870" cy="5685342"/>
              <a:chOff x="0" y="-47625"/>
              <a:chExt cx="1329056" cy="862094"/>
            </a:xfrm>
          </p:grpSpPr>
          <p:sp>
            <p:nvSpPr>
              <p:cNvPr id="111" name="Google Shape;111;p1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avLst/>
                <a:gdLst/>
                <a:ahLst/>
                <a:cxnLst/>
                <a:rect l="l" t="t" r="r" b="b"/>
                <a:pathLst>
                  <a:path w="1329056" h="814469" extrusionOk="0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 cmpd="sng">
                <a:solidFill>
                  <a:srgbClr val="00000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769"/>
                  <a:buFont typeface="Arial"/>
                  <a:buNone/>
                </a:pPr>
                <a:endParaRPr sz="6769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 txBox="1"/>
              <p:nvPr/>
            </p:nvSpPr>
            <p:spPr>
              <a:xfrm>
                <a:off x="0" y="-47625"/>
                <a:ext cx="1329056" cy="8620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6800" tIns="96800" rIns="96800" bIns="96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221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6769"/>
                  <a:buFont typeface="Arial"/>
                  <a:buNone/>
                </a:pPr>
                <a:endParaRPr sz="6769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" name="Google Shape;113;p1"/>
            <p:cNvSpPr txBox="1"/>
            <p:nvPr/>
          </p:nvSpPr>
          <p:spPr>
            <a:xfrm>
              <a:off x="1064599" y="235141"/>
              <a:ext cx="6635700" cy="497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1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62"/>
                <a:buFont typeface="Arial"/>
                <a:buNone/>
              </a:pPr>
              <a:r>
                <a:rPr lang="en-US" sz="4762" b="1" i="0" u="none" strike="noStrike" cap="non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REFERÊNCIAS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" name="Google Shape;114;p1"/>
          <p:cNvSpPr/>
          <p:nvPr/>
        </p:nvSpPr>
        <p:spPr>
          <a:xfrm>
            <a:off x="-916543" y="1525353"/>
            <a:ext cx="8571184" cy="2454222"/>
          </a:xfrm>
          <a:custGeom>
            <a:avLst/>
            <a:gdLst/>
            <a:ahLst/>
            <a:cxnLst/>
            <a:rect l="l" t="t" r="r" b="b"/>
            <a:pathLst>
              <a:path w="4497722" h="1287851" extrusionOk="0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endParaRPr sz="676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3163237" y="-4997460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endParaRPr sz="676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21014306" y="1712017"/>
            <a:ext cx="7228385" cy="2335060"/>
          </a:xfrm>
          <a:custGeom>
            <a:avLst/>
            <a:gdLst/>
            <a:ahLst/>
            <a:cxnLst/>
            <a:rect l="l" t="t" r="r" b="b"/>
            <a:pathLst>
              <a:path w="3793089" h="1225321" extrusionOk="0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endParaRPr sz="676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6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7"/>
              <a:buFont typeface="Arial"/>
              <a:buNone/>
            </a:pPr>
            <a:r>
              <a:rPr lang="en-US" sz="5077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INTRODUÇÃO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" name="Google Shape;118;p1"/>
          <p:cNvGrpSpPr/>
          <p:nvPr/>
        </p:nvGrpSpPr>
        <p:grpSpPr>
          <a:xfrm rot="-5400000">
            <a:off x="2494601" y="7477176"/>
            <a:ext cx="10206805" cy="14355430"/>
            <a:chOff x="0" y="-47625"/>
            <a:chExt cx="958980" cy="1348764"/>
          </a:xfrm>
        </p:grpSpPr>
        <p:sp>
          <p:nvSpPr>
            <p:cNvPr id="119" name="Google Shape;119;p1"/>
            <p:cNvSpPr/>
            <p:nvPr/>
          </p:nvSpPr>
          <p:spPr>
            <a:xfrm>
              <a:off x="0" y="0"/>
              <a:ext cx="958980" cy="1301139"/>
            </a:xfrm>
            <a:custGeom>
              <a:avLst/>
              <a:gdLst/>
              <a:ahLst/>
              <a:cxnLst/>
              <a:rect l="l" t="t" r="r" b="b"/>
              <a:pathLst>
                <a:path w="958980" h="1301139" extrusionOk="0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1"/>
          <p:cNvGrpSpPr/>
          <p:nvPr/>
        </p:nvGrpSpPr>
        <p:grpSpPr>
          <a:xfrm rot="-5400000">
            <a:off x="2460145" y="17961211"/>
            <a:ext cx="10275743" cy="14355435"/>
            <a:chOff x="0" y="-47625"/>
            <a:chExt cx="936167" cy="1348764"/>
          </a:xfrm>
        </p:grpSpPr>
        <p:sp>
          <p:nvSpPr>
            <p:cNvPr id="122" name="Google Shape;122;p1"/>
            <p:cNvSpPr/>
            <p:nvPr/>
          </p:nvSpPr>
          <p:spPr>
            <a:xfrm>
              <a:off x="0" y="0"/>
              <a:ext cx="936167" cy="1301139"/>
            </a:xfrm>
            <a:custGeom>
              <a:avLst/>
              <a:gdLst/>
              <a:ahLst/>
              <a:cxnLst/>
              <a:rect l="l" t="t" r="r" b="b"/>
              <a:pathLst>
                <a:path w="936167" h="1301139" extrusionOk="0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769"/>
                <a:buFont typeface="Arial"/>
                <a:buNone/>
              </a:pPr>
              <a:endParaRPr sz="676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" name="Google Shape;124;p1"/>
          <p:cNvSpPr/>
          <p:nvPr/>
        </p:nvSpPr>
        <p:spPr>
          <a:xfrm>
            <a:off x="22527251" y="36801439"/>
            <a:ext cx="5609093" cy="5642282"/>
          </a:xfrm>
          <a:custGeom>
            <a:avLst/>
            <a:gdLst/>
            <a:ahLst/>
            <a:cxnLst/>
            <a:rect l="l" t="t" r="r" b="b"/>
            <a:pathLst>
              <a:path w="2943367" h="2960783" extrusionOk="0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69"/>
              <a:buFont typeface="Arial"/>
              <a:buNone/>
            </a:pPr>
            <a:endParaRPr sz="676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"/>
          <p:cNvSpPr txBox="1"/>
          <p:nvPr/>
        </p:nvSpPr>
        <p:spPr>
          <a:xfrm>
            <a:off x="-1" y="4700167"/>
            <a:ext cx="28813765" cy="177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34"/>
              <a:buFont typeface="Arial"/>
              <a:buNone/>
            </a:pPr>
            <a:r>
              <a:rPr lang="en-US" sz="11434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Arkanis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"/>
          <p:cNvSpPr txBox="1"/>
          <p:nvPr/>
        </p:nvSpPr>
        <p:spPr>
          <a:xfrm>
            <a:off x="2404768" y="6355587"/>
            <a:ext cx="24286089" cy="2051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lang="en-US" sz="4762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Aleff Souza, João Colombo, Luciano Reis, Matheus Zimmer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 i="0" u="none" strike="noStrike" cap="none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Orientadores</a:t>
            </a:r>
            <a:r>
              <a:rPr lang="en-US" sz="4762" b="1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4762" b="0" i="0" u="none" strike="noStrike" cap="none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João Trencher, Rodnil Silva, Lucy Mari, Edson Barbeiro, Victor Rosetti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"/>
          <p:cNvSpPr txBox="1"/>
          <p:nvPr/>
        </p:nvSpPr>
        <p:spPr>
          <a:xfrm>
            <a:off x="2561448" y="30828367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lang="en-US" sz="4762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TECNOLOGIAS UTILIZADAS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"/>
          <p:cNvSpPr txBox="1"/>
          <p:nvPr/>
        </p:nvSpPr>
        <p:spPr>
          <a:xfrm>
            <a:off x="16608355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lang="en-US" sz="4762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"/>
          <p:cNvSpPr txBox="1"/>
          <p:nvPr/>
        </p:nvSpPr>
        <p:spPr>
          <a:xfrm>
            <a:off x="2644303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lang="en-US" sz="4762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PROBLEMA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"/>
          <p:cNvSpPr txBox="1"/>
          <p:nvPr/>
        </p:nvSpPr>
        <p:spPr>
          <a:xfrm>
            <a:off x="2758254" y="20302839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62"/>
              <a:buFont typeface="Arial"/>
              <a:buNone/>
            </a:pPr>
            <a:r>
              <a:rPr lang="en-US" sz="4762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PROPOSTA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"/>
          <p:cNvSpPr txBox="1"/>
          <p:nvPr/>
        </p:nvSpPr>
        <p:spPr>
          <a:xfrm>
            <a:off x="15966975" y="31536971"/>
            <a:ext cx="11400000" cy="6647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lang="en-US" sz="36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 15757:2010. </a:t>
            </a:r>
            <a:r>
              <a:rPr lang="en-US" sz="36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Conservation of Cultural Property – Specifications for Temperature and Relative Humidity to Limit Climate-Induced Mechanical Damage in Organic Hygroscopic Materials.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lang="en-US" sz="36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HERITAGE HEALTH INDEX. </a:t>
            </a:r>
            <a:r>
              <a:rPr lang="en-US" sz="36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Public Trust at Risk: The Heritage Health Index Report on the State of America’s Collections. 2005. 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lang="en-US" sz="36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IBRAM. </a:t>
            </a:r>
            <a:r>
              <a:rPr lang="en-US" sz="36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Relatório Estatístico do Cadastro Nacional de Museus (CNM). Brasília: Ministério da Cultura, 2023.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lang="en-US" sz="36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ITHAKA S+R.</a:t>
            </a:r>
            <a:r>
              <a:rPr lang="en-US" sz="36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Climate Change and Cultural Organizations Survey. 2023.</a:t>
            </a:r>
            <a:endParaRPr/>
          </a:p>
        </p:txBody>
      </p:sp>
      <p:sp>
        <p:nvSpPr>
          <p:cNvPr id="132" name="Google Shape;132;p1"/>
          <p:cNvSpPr txBox="1"/>
          <p:nvPr/>
        </p:nvSpPr>
        <p:spPr>
          <a:xfrm>
            <a:off x="1595875" y="31719850"/>
            <a:ext cx="12562800" cy="4431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lang="en-US" sz="36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Hardware:</a:t>
            </a:r>
            <a:r>
              <a:rPr lang="en-US" sz="36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Microcontrolador ESP32 integrado aos sensores BME280 (clima) e MQ-2 (segurança contra fogo/gás);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lang="en-US" sz="36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Conectividade: </a:t>
            </a:r>
            <a:r>
              <a:rPr lang="en-US" sz="36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Protocolo MQTT com criptografia TLS 1.2+ via HiveMQ Cloud;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lang="en-US" sz="36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Armazenamento: </a:t>
            </a:r>
            <a:r>
              <a:rPr lang="en-US" sz="36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Banco de dados SQLite (Prisma);</a:t>
            </a:r>
            <a:endParaRPr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Char char="•"/>
            </a:pPr>
            <a:r>
              <a:rPr lang="en-US" sz="3600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Linguagens e Tecnologias:</a:t>
            </a:r>
            <a:r>
              <a:rPr lang="en-US" sz="36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C++, Node.js, JavaScript, React, Prisma.</a:t>
            </a:r>
            <a:endParaRPr sz="36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" name="Google Shape;133;p1"/>
          <p:cNvSpPr txBox="1"/>
          <p:nvPr/>
        </p:nvSpPr>
        <p:spPr>
          <a:xfrm>
            <a:off x="1595870" y="10749184"/>
            <a:ext cx="12562800" cy="9012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Anualmente, o Brasil perde mais de R$ 600 milhões com a deterioração de acervos culturais causada por variações ambientais. Essa ameaça silenciosa lidera as preocupações de 35% dos gestores, agravando-se pelo fato de que a falta de monitoramento contínuo frequentemente invalida apólices de seguro por ausência de provas de zelo. Para blindar as obras contra danos e a proliferação de fungos, a norma EN 15757 exige um microclima rigorosamente controlado, com temperatura entre 18°C e 22°C e umidade de 45% a 55%. Garantir a preservação definitiva do seu patrimônio, proteger seus investimentos e cumprir essas exigências requer uma solução automatizada e à prova de falhas, e é por isso que o nosso projeto é necessário. </a:t>
            </a:r>
            <a:endParaRPr sz="32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30"/>
              <a:buFont typeface="Arial"/>
              <a:buNone/>
            </a:pPr>
            <a:endParaRPr sz="343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" name="Google Shape;134;p1"/>
          <p:cNvSpPr txBox="1"/>
          <p:nvPr/>
        </p:nvSpPr>
        <p:spPr>
          <a:xfrm>
            <a:off x="1570066" y="21125709"/>
            <a:ext cx="12562800" cy="85315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nosso projeto nasce para ser a resposta definitiva a essa vulnerabilidade, substituindo rondas manuais e planilhas falhas por uma camada contínua de inteligência preventiva. A ideia é tirar os gestores do escuro: qualquer desvio nas condições ideais gera uma mobilização imediata, antes que o dano se torne irreparável. Muito além de apenas monitorar, entregamos a tranquilidade da total conformidade com as normas e a garantia de um histórico digital irrefutável para seguradoras e auditorias, blindando o patrimônio através de uma abordagem acessível e desenhada para a realidade brasileira.</a:t>
            </a:r>
            <a:endParaRPr sz="36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" name="Google Shape;135;p1"/>
          <p:cNvSpPr txBox="1"/>
          <p:nvPr/>
        </p:nvSpPr>
        <p:spPr>
          <a:xfrm>
            <a:off x="136933" y="39681833"/>
            <a:ext cx="28242600" cy="18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5"/>
              <a:buFont typeface="Arial"/>
              <a:buNone/>
            </a:pPr>
            <a:r>
              <a:rPr lang="en-US" sz="4955" b="1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IV SEMANA FECAP DE TECNOLOGIA - 2026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5"/>
              <a:buFont typeface="Arial"/>
              <a:buNone/>
            </a:pPr>
            <a:r>
              <a:rPr lang="en-US" sz="4955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Fundação Escola de Comércio Álvares Penteado - FECAP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"/>
          <p:cNvSpPr txBox="1"/>
          <p:nvPr/>
        </p:nvSpPr>
        <p:spPr>
          <a:xfrm>
            <a:off x="15617816" y="10880630"/>
            <a:ext cx="11904157" cy="124095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Como resultado prático, criamos um ecossistema IoT que transforma a preservação em uma ação automatizada e preventiva. Substituindo planilhas e rondas manuais, implementamos sensores discretos de monitoramento ininterrupto 24/7. Uma Máquina de Estados inteligente analisa o ambiente em tempo real e, ao detectar qualquer anomalia, como oscilações climáticas, gás ou fogo, dispara alertas locais e notificações imediatas aos gestores, garantindo a contenção antes do dano.</a:t>
            </a:r>
            <a:endParaRPr/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Além da resposta ágil, o projeto blinda as instituições burocrática e financeiramente. O registro contínuo das leituras gera um histórico digital inviolável, atuando como documento oficial para seguradoras ao comprovar o zelo irrefutável com o acervo. Desenhada para a realidade dos museus brasileiros, nossa solução une tecnologia e eficiência operacional, entregando não apenas um monitoramento, mas o escudo do patrimônio histórico.</a:t>
            </a:r>
            <a:endParaRPr/>
          </a:p>
        </p:txBody>
      </p:sp>
      <p:pic>
        <p:nvPicPr>
          <p:cNvPr id="137" name="Google Shape;137;p1" title="ARKANIS - Projeto IOT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289000" y="23619675"/>
            <a:ext cx="12527626" cy="606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565</Words>
  <Application>Microsoft Office PowerPoint</Application>
  <PresentationFormat>Personalizar</PresentationFormat>
  <Paragraphs>24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Open Sans</vt:lpstr>
      <vt:lpstr>Calibri</vt:lpstr>
      <vt:lpstr>Arial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Luciano Massaro 23025304</cp:lastModifiedBy>
  <cp:revision>1</cp:revision>
  <dcterms:created xsi:type="dcterms:W3CDTF">2006-08-16T00:00:00Z</dcterms:created>
  <dcterms:modified xsi:type="dcterms:W3CDTF">2026-05-10T22:56:29Z</dcterms:modified>
</cp:coreProperties>
</file>